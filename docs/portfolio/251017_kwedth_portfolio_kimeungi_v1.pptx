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4c6d4a91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4c6d4a91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61b86549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61b8654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WILDFIRE 패턴(열,모양) 학습한 AI 모델(KWEDTH)이 산불의 경로/강도를 예측 =&gt; help firefighters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the early prediction specialized in korean area is the main purpose of this project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 u="sng">
                <a:solidFill>
                  <a:schemeClr val="dk1"/>
                </a:solidFill>
              </a:rPr>
              <a:t>(roboflow dataset) </a:t>
            </a:r>
            <a:r>
              <a:rPr lang="ko" sz="1200">
                <a:solidFill>
                  <a:schemeClr val="dk1"/>
                </a:solidFill>
              </a:rPr>
              <a:t>first model, db, yolov8m vs yolo11 모델링, 예측 (1) labeling problem =&gt; correct the yaml file (2) small size flame sample is too small compared to small size of smoke =&gt; oversampling the small size flames (1000)</a:t>
            </a:r>
            <a:endParaRPr sz="1200" u="sng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 u="sng">
                <a:solidFill>
                  <a:schemeClr val="dk1"/>
                </a:solidFill>
              </a:rPr>
              <a:t>(fasdd dataset) </a:t>
            </a:r>
            <a:r>
              <a:rPr lang="ko" sz="1200">
                <a:solidFill>
                  <a:schemeClr val="dk1"/>
                </a:solidFill>
              </a:rPr>
              <a:t>second model, db, segement 모델링, 예측 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(1) small size of smoke compared to flame problem =&gt; copy and paste the small size of smokes =&gt; imbalance of dataset was solved (train/val/test and size)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flame recall &lt;0.6 problem even though i changed dataset (welll refined by resizing, copy and paste balancing)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i found the picture modis (that was in 2025-3) - the failure of early detection of korean wildfire even though the nasa satellite aqua capture the heavy smoke so i searched some firemaps(nasa firemaps, himawari) they are providing almost near time fire points (at least 15 minutes) so i tried to make a model&amp;service that is specialized in korea area by using nasa &amp; himawari satellites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(0) chossed method: collect the all fire data that happened ini 3~5 months in korea using nasa firms api  =&gt; (8932) 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(1) first problem&amp;results: the delay of nasa firms dataset that uploaded in the website =&gt; used himawari datasets (122,340) (at least 15 minutes in realtime in s3 =&gt; sqs solution =&gt; elastic cloud) =&gt; kibana dashboard on maps (in real-time)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(2) second problem&amp;results: how to know the exact fire points =&gt; mapping firms data &amp; himawari ahi  =&gt; unique slots (124) =&gt; made a mask label based on firms fire point and masks using fixel z-score =&gt; himawari mask chips (that cropped in same size) =&gt; trained by mask segment models =&gt; after training, adopt fire gate &amp; rgb composition &amp; overlay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(3) second problem&amp;results : how to know the way of fires =&gt; using the cloud informations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 u="sng">
                <a:solidFill>
                  <a:schemeClr val="dk1"/>
                </a:solidFill>
              </a:rPr>
              <a:t>(nasa firms spot &amp; himawari ahi dataset) </a:t>
            </a:r>
            <a:r>
              <a:rPr lang="ko" sz="1200">
                <a:solidFill>
                  <a:schemeClr val="dk1"/>
                </a:solidFill>
              </a:rPr>
              <a:t>third model, make dataset, 세번째 모델, db, 모델링(with labeling)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61b865498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61b865498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61b86549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61b86549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*labeling check &lt;-bbox </a:t>
            </a:r>
            <a:r>
              <a:rPr lang="ko"/>
              <a:t>유효성 및 재학습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61b865498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61b865498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d96721d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d96721d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d96721d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d96721d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d96721d1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d96721d1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4c6d4a911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4c6d4a911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61b865498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61b865498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61b865498_5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61b865498_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61b865498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61b865498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61b86549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61b86549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4c6d4a91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4c6d4a91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E3E3E3"/>
                </a:solidFill>
                <a:highlight>
                  <a:srgbClr val="383838"/>
                </a:highlight>
                <a:latin typeface="Courier New"/>
                <a:ea typeface="Courier New"/>
                <a:cs typeface="Courier New"/>
                <a:sym typeface="Courier New"/>
              </a:rPr>
              <a:t>✅ converted: 1026 files → /content/drive/MyDrive/dl_kwedth_final/h09_clip_conv</a:t>
            </a:r>
            <a:endParaRPr sz="1050">
              <a:solidFill>
                <a:srgbClr val="E3E3E3"/>
              </a:solidFill>
              <a:highlight>
                <a:srgbClr val="38383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E3E3E3"/>
                </a:solidFill>
                <a:highlight>
                  <a:srgbClr val="383838"/>
                </a:highlight>
                <a:latin typeface="Courier New"/>
                <a:ea typeface="Courier New"/>
                <a:cs typeface="Courier New"/>
                <a:sym typeface="Courier New"/>
              </a:rPr>
              <a:t>sample: H09_20250428_0600_B14_FLDK_R20_Korea.tif | min/max/mean (°C): 257.00634765625 301.934814453125 291.04681396484375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4c6d4a91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4c6d4a91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4c6d4a91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94c6d4a91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4c6d4a91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4c6d4a91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4c6d4a91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94c6d4a91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4c6d4a91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4c6d4a91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10" Type="http://schemas.openxmlformats.org/officeDocument/2006/relationships/image" Target="../media/image26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9.png"/><Relationship Id="rId6" Type="http://schemas.openxmlformats.org/officeDocument/2006/relationships/image" Target="../media/image39.jpg"/><Relationship Id="rId7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11" Type="http://schemas.openxmlformats.org/officeDocument/2006/relationships/image" Target="../media/image28.png"/><Relationship Id="rId10" Type="http://schemas.openxmlformats.org/officeDocument/2006/relationships/image" Target="../media/image38.png"/><Relationship Id="rId12" Type="http://schemas.openxmlformats.org/officeDocument/2006/relationships/image" Target="../media/image25.png"/><Relationship Id="rId9" Type="http://schemas.openxmlformats.org/officeDocument/2006/relationships/image" Target="../media/image40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47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jpg"/><Relationship Id="rId4" Type="http://schemas.openxmlformats.org/officeDocument/2006/relationships/image" Target="../media/image72.png"/><Relationship Id="rId5" Type="http://schemas.openxmlformats.org/officeDocument/2006/relationships/image" Target="../media/image44.png"/><Relationship Id="rId6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Relationship Id="rId4" Type="http://schemas.openxmlformats.org/officeDocument/2006/relationships/image" Target="../media/image49.png"/><Relationship Id="rId5" Type="http://schemas.openxmlformats.org/officeDocument/2006/relationships/image" Target="../media/image68.png"/><Relationship Id="rId6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62.png"/><Relationship Id="rId5" Type="http://schemas.openxmlformats.org/officeDocument/2006/relationships/image" Target="../media/image52.png"/><Relationship Id="rId6" Type="http://schemas.openxmlformats.org/officeDocument/2006/relationships/image" Target="../media/image58.png"/><Relationship Id="rId7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63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55.png"/><Relationship Id="rId5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3.png"/><Relationship Id="rId4" Type="http://schemas.openxmlformats.org/officeDocument/2006/relationships/image" Target="../media/image56.png"/><Relationship Id="rId5" Type="http://schemas.openxmlformats.org/officeDocument/2006/relationships/image" Target="../media/image65.png"/><Relationship Id="rId6" Type="http://schemas.openxmlformats.org/officeDocument/2006/relationships/image" Target="../media/image64.png"/><Relationship Id="rId7" Type="http://schemas.openxmlformats.org/officeDocument/2006/relationships/hyperlink" Target="https://github.com/velocitygoal-cpu/wildfire-map" TargetMode="External"/><Relationship Id="rId8" Type="http://schemas.openxmlformats.org/officeDocument/2006/relationships/image" Target="../media/image7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40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ko" sz="2200"/>
              <a:t>KWEDTH: 한국형 산불 조기예측 AI 모델 개발 </a:t>
            </a:r>
            <a:endParaRPr b="1" sz="65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795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840"/>
              <a:t>김은기</a:t>
            </a:r>
            <a:endParaRPr sz="184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840"/>
              <a:t>2025년 10월 17일</a:t>
            </a:r>
            <a:endParaRPr sz="1840"/>
          </a:p>
        </p:txBody>
      </p:sp>
      <p:cxnSp>
        <p:nvCxnSpPr>
          <p:cNvPr id="56" name="Google Shape;56;p13"/>
          <p:cNvCxnSpPr/>
          <p:nvPr/>
        </p:nvCxnSpPr>
        <p:spPr>
          <a:xfrm flipH="1" rot="10800000">
            <a:off x="1382775" y="2519250"/>
            <a:ext cx="63720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0" y="4675050"/>
            <a:ext cx="9144000" cy="495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4294967295" type="title"/>
          </p:nvPr>
        </p:nvSpPr>
        <p:spPr>
          <a:xfrm>
            <a:off x="356175" y="250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20"/>
              <a:t>목차</a:t>
            </a:r>
            <a:endParaRPr sz="2420"/>
          </a:p>
        </p:txBody>
      </p:sp>
      <p:sp>
        <p:nvSpPr>
          <p:cNvPr id="66" name="Google Shape;66;p14"/>
          <p:cNvSpPr txBox="1"/>
          <p:nvPr>
            <p:ph idx="4294967295" type="title"/>
          </p:nvPr>
        </p:nvSpPr>
        <p:spPr>
          <a:xfrm>
            <a:off x="623400" y="1068450"/>
            <a:ext cx="8520600" cy="30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 sz="1800"/>
              <a:t>프로젝트 목표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 sz="1800"/>
              <a:t>1-2차 모델 개발</a:t>
            </a:r>
            <a:r>
              <a:rPr lang="ko" sz="1800"/>
              <a:t>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 sz="1800"/>
              <a:t>한국형 산불 조기예측 AI 모델 개발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 sz="1800"/>
              <a:t>산불 예측 시스템 구현 작업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 sz="1800"/>
              <a:t>결론 및 제언</a:t>
            </a:r>
            <a:endParaRPr sz="1800"/>
          </a:p>
        </p:txBody>
      </p:sp>
      <p:sp>
        <p:nvSpPr>
          <p:cNvPr id="67" name="Google Shape;67;p14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-2-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4294967295" type="title"/>
          </p:nvPr>
        </p:nvSpPr>
        <p:spPr>
          <a:xfrm>
            <a:off x="220275" y="276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2270" lvl="0" marL="457200" rtl="0" algn="l">
              <a:spcBef>
                <a:spcPts val="0"/>
              </a:spcBef>
              <a:spcAft>
                <a:spcPts val="0"/>
              </a:spcAft>
              <a:buSzPts val="2420"/>
              <a:buAutoNum type="arabicPeriod"/>
            </a:pPr>
            <a:r>
              <a:rPr lang="ko" sz="2420"/>
              <a:t>프로젝트 개요 및 목표</a:t>
            </a:r>
            <a:endParaRPr sz="2420"/>
          </a:p>
        </p:txBody>
      </p:sp>
      <p:sp>
        <p:nvSpPr>
          <p:cNvPr id="73" name="Google Shape;73;p15"/>
          <p:cNvSpPr txBox="1"/>
          <p:nvPr/>
        </p:nvSpPr>
        <p:spPr>
          <a:xfrm>
            <a:off x="484200" y="999000"/>
            <a:ext cx="8175600" cy="3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본 프로젝트의 목표는 </a:t>
            </a:r>
            <a:r>
              <a:rPr b="1" lang="ko" sz="1100">
                <a:solidFill>
                  <a:schemeClr val="dk1"/>
                </a:solidFill>
              </a:rPr>
              <a:t>한국 지역에 특화된 실시간 조기 예측 AI 모델 (KWETH)</a:t>
            </a:r>
            <a:r>
              <a:rPr lang="ko" sz="1100">
                <a:solidFill>
                  <a:schemeClr val="dk1"/>
                </a:solidFill>
              </a:rPr>
              <a:t>를</a:t>
            </a:r>
            <a:r>
              <a:rPr lang="ko" sz="1100">
                <a:solidFill>
                  <a:schemeClr val="dk1"/>
                </a:solidFill>
              </a:rPr>
              <a:t> 개발하여, 위성 관측 데이터를 기반으로 소방 대응 지원 NASA FIRMS 및 일본 Himawari 위성 데이터를 활용하여 실시간 화재 탐지 및 확산 예측 모델 개발 시스템 구축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(1) 초기 목표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Flame(fire) 객체의 </a:t>
            </a:r>
            <a:r>
              <a:rPr b="1" lang="ko" sz="1100">
                <a:solidFill>
                  <a:schemeClr val="dk1"/>
                </a:solidFill>
              </a:rPr>
              <a:t>Recall 0.6 이상</a:t>
            </a:r>
            <a:r>
              <a:rPr lang="ko" sz="1100">
                <a:solidFill>
                  <a:schemeClr val="dk1"/>
                </a:solidFill>
              </a:rPr>
              <a:t>을 달성하는 것이 1차 목표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Roboflow 및 FASDD 데이터셋을 활용한 YOLO 기반 탐지모델(YOLOv8m, YOLO11)로 화염 및 연기 탐지를 시도.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(2</a:t>
            </a:r>
            <a:r>
              <a:rPr b="1" lang="ko" sz="1200">
                <a:solidFill>
                  <a:schemeClr val="dk1"/>
                </a:solidFill>
              </a:rPr>
              <a:t>) </a:t>
            </a:r>
            <a:r>
              <a:rPr b="1" lang="ko" sz="1100">
                <a:solidFill>
                  <a:schemeClr val="dk1"/>
                </a:solidFill>
              </a:rPr>
              <a:t>문제 인식</a:t>
            </a:r>
            <a:endParaRPr b="1"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100">
                <a:solidFill>
                  <a:schemeClr val="dk1"/>
                </a:solidFill>
              </a:rPr>
              <a:t>앞선 모델들이 화염·연기의 형태 기반 탐지에 초점을 두었다면,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본 단계에서는 </a:t>
            </a:r>
            <a:r>
              <a:rPr b="1" lang="ko" sz="1100">
                <a:solidFill>
                  <a:schemeClr val="dk1"/>
                </a:solidFill>
              </a:rPr>
              <a:t>열적 패턴(thermal signature)</a:t>
            </a:r>
            <a:r>
              <a:rPr lang="ko" sz="1100">
                <a:solidFill>
                  <a:schemeClr val="dk1"/>
                </a:solidFill>
              </a:rPr>
              <a:t> 을 직접 활용해 조기 탐지 정확도를 높이는 것을 목표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NASA 아쿠아 위성이 </a:t>
            </a:r>
            <a:r>
              <a:rPr b="1" lang="ko" sz="1100">
                <a:solidFill>
                  <a:schemeClr val="dk1"/>
                </a:solidFill>
              </a:rPr>
              <a:t>산청 지역 화재 당시 연기를 포착했음에도 불구하고 조기대응이 실패</a:t>
            </a:r>
            <a:r>
              <a:rPr lang="ko" sz="1100">
                <a:solidFill>
                  <a:schemeClr val="dk1"/>
                </a:solidFill>
              </a:rPr>
              <a:t>한 사례를 분석하면서,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“형태 기반 탐지”만으로는 조기 예측에 한계가 있음을 인식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(3) 목표 재정의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단순 시각적 탐지에서 벗어나, </a:t>
            </a:r>
            <a:r>
              <a:rPr b="1" lang="ko" sz="1100">
                <a:solidFill>
                  <a:schemeClr val="dk1"/>
                </a:solidFill>
              </a:rPr>
              <a:t>열(적외선 밴드)</a:t>
            </a:r>
            <a:r>
              <a:rPr lang="ko" sz="1100">
                <a:solidFill>
                  <a:schemeClr val="dk1"/>
                </a:solidFill>
              </a:rPr>
              <a:t> 정보 기반의 화재 패턴 학습 모델로 확장하기로 함.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새로운 가정: “온도 차이를 학습한 AI가 다음 산불 발생 지점을 예측할 수 있다.”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이에 따라 </a:t>
            </a:r>
            <a:r>
              <a:rPr b="1" lang="ko" sz="1100">
                <a:solidFill>
                  <a:schemeClr val="dk1"/>
                </a:solidFill>
              </a:rPr>
              <a:t>최종 개발 목표</a:t>
            </a:r>
            <a:r>
              <a:rPr lang="ko" sz="1100">
                <a:solidFill>
                  <a:schemeClr val="dk1"/>
                </a:solidFill>
              </a:rPr>
              <a:t>를 다음과 같이 재정의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개발 목표: 한국 산불 화재 조기 탐지 더 헬퍼 (KWEDTH)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개발 정의</a:t>
            </a:r>
            <a:r>
              <a:rPr b="1" lang="ko" sz="1100">
                <a:solidFill>
                  <a:schemeClr val="dk1"/>
                </a:solidFill>
              </a:rPr>
              <a:t>:</a:t>
            </a:r>
            <a:r>
              <a:rPr lang="ko" sz="1100">
                <a:solidFill>
                  <a:schemeClr val="dk1"/>
                </a:solidFill>
              </a:rPr>
              <a:t> 산불의 </a:t>
            </a:r>
            <a:r>
              <a:rPr b="1" lang="ko" sz="1100">
                <a:solidFill>
                  <a:schemeClr val="dk1"/>
                </a:solidFill>
              </a:rPr>
              <a:t>화재 패턴(열 + 모양)</a:t>
            </a:r>
            <a:r>
              <a:rPr lang="ko" sz="1100">
                <a:solidFill>
                  <a:schemeClr val="dk1"/>
                </a:solidFill>
              </a:rPr>
              <a:t> 을 학습한 AI 모델(KWEDTH)이 픽셀 단위  핫스팟(임계치 초과 열점)을 예측하도록 하는 목적에 맞추어  </a:t>
            </a:r>
            <a:r>
              <a:rPr b="1" lang="ko" sz="1100">
                <a:solidFill>
                  <a:schemeClr val="dk1"/>
                </a:solidFill>
              </a:rPr>
              <a:t>segment 기반 모델</a:t>
            </a:r>
            <a:r>
              <a:rPr lang="ko" sz="1100">
                <a:solidFill>
                  <a:schemeClr val="dk1"/>
                </a:solidFill>
              </a:rPr>
              <a:t>을 채택함.  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-3-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idx="4294967295" type="title"/>
          </p:nvPr>
        </p:nvSpPr>
        <p:spPr>
          <a:xfrm>
            <a:off x="259300" y="24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Ⅰ. </a:t>
            </a:r>
            <a:r>
              <a:rPr lang="ko"/>
              <a:t>프로젝트 목표</a:t>
            </a:r>
            <a:r>
              <a:rPr lang="ko"/>
              <a:t> 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4527325" y="-4964600"/>
            <a:ext cx="4213500" cy="27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259300" y="24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Ⅱ. 1</a:t>
            </a:r>
            <a:r>
              <a:rPr lang="ko"/>
              <a:t>차 모델</a:t>
            </a:r>
            <a:r>
              <a:rPr lang="ko"/>
              <a:t> 데이터셋</a:t>
            </a:r>
            <a:r>
              <a:rPr lang="ko"/>
              <a:t> </a:t>
            </a:r>
            <a:endParaRPr/>
          </a:p>
        </p:txBody>
      </p:sp>
      <p:sp>
        <p:nvSpPr>
          <p:cNvPr id="86" name="Google Shape;86;p16"/>
          <p:cNvSpPr txBox="1"/>
          <p:nvPr>
            <p:ph idx="4294967295" type="subTitle"/>
          </p:nvPr>
        </p:nvSpPr>
        <p:spPr>
          <a:xfrm>
            <a:off x="259300" y="999000"/>
            <a:ext cx="85206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라벨(coco json) 분석 결과 fire or smoke (57.5%)로 첫번째 데이터셋에 비해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화염이 잘 확보된 데이터이며 네거티브 이미지(n=3,473)를 학습시켜 과적합 줄임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일괄 리사이즈(640)/레터박스 전처리/</a:t>
            </a:r>
            <a:r>
              <a:rPr lang="ko" sz="1200">
                <a:solidFill>
                  <a:schemeClr val="dk1"/>
                </a:solidFill>
              </a:rPr>
              <a:t>라벨과 이미지 매칭 여부 전처리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copy &amp; paste 증강기법으로 작은 크기 smoke가 적은 문제를 해결 (+fire도)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최종 데이터셋은  train(n=76,645), val(n=18,272), test(=15,891) 균형 확보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4575" y="1086775"/>
            <a:ext cx="2858999" cy="216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025" y="3018252"/>
            <a:ext cx="3421798" cy="19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938" y="3354450"/>
            <a:ext cx="3951523" cy="15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7050" y="2300875"/>
            <a:ext cx="1012299" cy="101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35540" y="2310563"/>
            <a:ext cx="1012301" cy="1012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825" y="2286987"/>
            <a:ext cx="1031050" cy="103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58410" y="2282148"/>
            <a:ext cx="1012311" cy="104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9575" y="2301479"/>
            <a:ext cx="1031039" cy="102139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-4-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Ⅱ. </a:t>
            </a:r>
            <a:r>
              <a:rPr lang="ko"/>
              <a:t>1차 모델 라벨</a:t>
            </a:r>
            <a:r>
              <a:rPr lang="ko"/>
              <a:t> </a:t>
            </a:r>
            <a:endParaRPr/>
          </a:p>
        </p:txBody>
      </p:sp>
      <p:sp>
        <p:nvSpPr>
          <p:cNvPr id="103" name="Google Shape;103;p17"/>
          <p:cNvSpPr txBox="1"/>
          <p:nvPr>
            <p:ph idx="4294967295" type="subTitle"/>
          </p:nvPr>
        </p:nvSpPr>
        <p:spPr>
          <a:xfrm>
            <a:off x="410200" y="999000"/>
            <a:ext cx="85206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COPY &amp; PASTE 증강 이후 Bounding-box 라벨이 유효한 것에 한해 COCO- JSON 형식을  yolo.txt로 라벨로 변환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data.yaml 작성 시 클래스는 [FIRE-0, SMOKE=1], negative image는 빈 txt로 보존 (일반화 목적)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4" name="Google Shape;104;p17" title="output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75" y="1865875"/>
            <a:ext cx="4042279" cy="272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863" y="1986287"/>
            <a:ext cx="4042274" cy="258521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1176525" y="1615363"/>
            <a:ext cx="3000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 &lt; 라벨링 결과&gt;</a:t>
            </a:r>
            <a:endParaRPr sz="1200"/>
          </a:p>
        </p:txBody>
      </p:sp>
      <p:sp>
        <p:nvSpPr>
          <p:cNvPr id="107" name="Google Shape;107;p17"/>
          <p:cNvSpPr txBox="1"/>
          <p:nvPr/>
        </p:nvSpPr>
        <p:spPr>
          <a:xfrm>
            <a:off x="5251000" y="1615363"/>
            <a:ext cx="3000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 &lt; B-BOX 유효성 결과&gt;</a:t>
            </a:r>
            <a:endParaRPr sz="1200"/>
          </a:p>
        </p:txBody>
      </p:sp>
      <p:sp>
        <p:nvSpPr>
          <p:cNvPr id="108" name="Google Shape;108;p17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-5-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Ⅱ. 1</a:t>
            </a:r>
            <a:r>
              <a:rPr lang="ko"/>
              <a:t>차 모델링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250" y="1919011"/>
            <a:ext cx="3835963" cy="287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025" y="2143050"/>
            <a:ext cx="3223525" cy="79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>
            <p:ph idx="4294967295" type="subTitle"/>
          </p:nvPr>
        </p:nvSpPr>
        <p:spPr>
          <a:xfrm>
            <a:off x="311700" y="999000"/>
            <a:ext cx="8520600" cy="9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스모크 테스트 이후  yolo8s로 훈련 진행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yolo8s는</a:t>
            </a:r>
            <a:r>
              <a:rPr lang="ko" sz="1200">
                <a:solidFill>
                  <a:schemeClr val="dk1"/>
                </a:solidFill>
              </a:rPr>
              <a:t> precision이 0.67으로 높았으나, recall과 map50이 상대적으로 낮았음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학습데이터가 다양한 상황을 반영함에 따라 재현율은 다소 낮은 것으로 보임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다만, fire이 smoke 보다 수가 많다는 장점이 있으며, 정교하게 훈련이 진행됨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lr0: 0.01, optimizer: AdamW 사용, 시간 관계상 10에포크 전에 중단함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1375" y="3057900"/>
            <a:ext cx="1585176" cy="158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 title="label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083" y="3057893"/>
            <a:ext cx="1728292" cy="172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5150" y="2242375"/>
            <a:ext cx="2182825" cy="136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-6-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Ⅱ. 2</a:t>
            </a:r>
            <a:r>
              <a:rPr lang="ko"/>
              <a:t>차 모델</a:t>
            </a:r>
            <a:r>
              <a:rPr lang="ko"/>
              <a:t> </a:t>
            </a:r>
            <a:r>
              <a:rPr lang="ko"/>
              <a:t>데이터셋 &amp; 라벨</a:t>
            </a:r>
            <a:endParaRPr/>
          </a:p>
        </p:txBody>
      </p:sp>
      <p:sp>
        <p:nvSpPr>
          <p:cNvPr id="130" name="Google Shape;130;p19"/>
          <p:cNvSpPr txBox="1"/>
          <p:nvPr>
            <p:ph idx="4294967295" type="subTitle"/>
          </p:nvPr>
        </p:nvSpPr>
        <p:spPr>
          <a:xfrm>
            <a:off x="408875" y="999000"/>
            <a:ext cx="85206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작은 사이즈 화염 문제 - &gt; flame over-sampling 7,725개</a:t>
            </a:r>
            <a:r>
              <a:rPr lang="ko" sz="1200">
                <a:solidFill>
                  <a:schemeClr val="dk1"/>
                </a:solidFill>
              </a:rPr>
              <a:t>로</a:t>
            </a:r>
            <a:r>
              <a:rPr lang="ko" sz="1200">
                <a:solidFill>
                  <a:schemeClr val="dk1"/>
                </a:solidFill>
              </a:rPr>
              <a:t>  화염과 스모크의 균형 확보</a:t>
            </a:r>
            <a:r>
              <a:rPr lang="ko" sz="1200">
                <a:solidFill>
                  <a:schemeClr val="dk1"/>
                </a:solidFill>
              </a:rPr>
              <a:t>하였다는 장점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counts per split: {'train': Counter({1: 29646, 0: 16143}), 'valid': Counter({1: 2581, 0: 983})}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roboflow에서 그대로 data.yaml을 받아오는 경우 라벨링이 전부 ‘-’로 표시되는 문제가 있었으나 yaml 수정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val.batch에서 밝은 불빛을 화염으로 인식하는 문제</a:t>
            </a:r>
            <a:r>
              <a:rPr lang="ko" sz="1200">
                <a:solidFill>
                  <a:schemeClr val="dk1"/>
                </a:solidFill>
              </a:rPr>
              <a:t>를 발견함함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800" y="2026313"/>
            <a:ext cx="2703374" cy="270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100" y="2026313"/>
            <a:ext cx="2296800" cy="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 rotWithShape="1">
          <a:blip r:embed="rId5">
            <a:alphaModFix/>
          </a:blip>
          <a:srcRect b="13240" l="0" r="0" t="0"/>
          <a:stretch/>
        </p:blipFill>
        <p:spPr>
          <a:xfrm>
            <a:off x="847700" y="2855500"/>
            <a:ext cx="2223202" cy="192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104" y="3393850"/>
            <a:ext cx="1448480" cy="13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-7-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0075" y="2026325"/>
            <a:ext cx="2665974" cy="270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38425" y="2026322"/>
            <a:ext cx="1637625" cy="14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/>
          </a:blip>
          <a:srcRect b="0" l="38465" r="0" t="0"/>
          <a:stretch/>
        </p:blipFill>
        <p:spPr>
          <a:xfrm>
            <a:off x="3719350" y="3072862"/>
            <a:ext cx="4938375" cy="7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Ⅱ. </a:t>
            </a:r>
            <a:r>
              <a:rPr lang="ko"/>
              <a:t>2차 모델링</a:t>
            </a:r>
            <a:r>
              <a:rPr lang="ko"/>
              <a:t> </a:t>
            </a:r>
            <a:endParaRPr/>
          </a:p>
        </p:txBody>
      </p:sp>
      <p:sp>
        <p:nvSpPr>
          <p:cNvPr id="146" name="Google Shape;146;p20"/>
          <p:cNvSpPr txBox="1"/>
          <p:nvPr>
            <p:ph idx="4294967295" type="subTitle"/>
          </p:nvPr>
        </p:nvSpPr>
        <p:spPr>
          <a:xfrm>
            <a:off x="311700" y="961577"/>
            <a:ext cx="8520600" cy="9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R</a:t>
            </a:r>
            <a:r>
              <a:rPr lang="ko" sz="1200">
                <a:solidFill>
                  <a:schemeClr val="dk1"/>
                </a:solidFill>
              </a:rPr>
              <a:t>oboflow 설명</a:t>
            </a:r>
            <a:r>
              <a:rPr lang="ko" sz="1200">
                <a:solidFill>
                  <a:schemeClr val="dk1"/>
                </a:solidFill>
              </a:rPr>
              <a:t>값보다</a:t>
            </a:r>
            <a:r>
              <a:rPr lang="ko" sz="1200">
                <a:solidFill>
                  <a:schemeClr val="dk1"/>
                </a:solidFill>
              </a:rPr>
              <a:t> Precision 0.619(+0.03%p), Recall 0.524(+0.4%p), mAP@50 0.591(+ 0.022%p)까지 향상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Recall</a:t>
            </a:r>
            <a:r>
              <a:rPr lang="ko" sz="1200">
                <a:solidFill>
                  <a:schemeClr val="dk1"/>
                </a:solidFill>
              </a:rPr>
              <a:t>은</a:t>
            </a:r>
            <a:r>
              <a:rPr lang="ko" sz="1200">
                <a:solidFill>
                  <a:schemeClr val="dk1"/>
                </a:solidFill>
              </a:rPr>
              <a:t> flame =0.44/smoke=0.607로 화염의 Recall값이 </a:t>
            </a:r>
            <a:r>
              <a:rPr lang="ko" sz="1200">
                <a:solidFill>
                  <a:schemeClr val="dk1"/>
                </a:solidFill>
              </a:rPr>
              <a:t>상대적으로 </a:t>
            </a:r>
            <a:r>
              <a:rPr lang="ko" sz="1200">
                <a:solidFill>
                  <a:schemeClr val="dk1"/>
                </a:solidFill>
              </a:rPr>
              <a:t>낮음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Backbone을 freeze/unfreeze 하는 경우  Precision 0.639까지 향상되나, Recall값은 오히려 감소</a:t>
            </a:r>
            <a:r>
              <a:rPr lang="ko" sz="1200">
                <a:solidFill>
                  <a:schemeClr val="dk1"/>
                </a:solidFill>
              </a:rPr>
              <a:t>하는 경향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conf sweep </a:t>
            </a:r>
            <a:r>
              <a:rPr lang="ko" sz="1200">
                <a:solidFill>
                  <a:schemeClr val="dk1"/>
                </a:solidFill>
              </a:rPr>
              <a:t>하는 경우</a:t>
            </a:r>
            <a:r>
              <a:rPr lang="ko" sz="1200">
                <a:solidFill>
                  <a:schemeClr val="dk1"/>
                </a:solidFill>
              </a:rPr>
              <a:t> Precision은 감소하지만, Recall값은 높아짐 (fire=0.539, smoke=0.502 =&gt; fire  0.6에 근접)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confusion metrix </a:t>
            </a:r>
            <a:r>
              <a:rPr lang="ko" sz="1200">
                <a:solidFill>
                  <a:schemeClr val="dk1"/>
                </a:solidFill>
              </a:rPr>
              <a:t>결과, </a:t>
            </a:r>
            <a:r>
              <a:rPr lang="ko" sz="1200">
                <a:solidFill>
                  <a:schemeClr val="dk1"/>
                </a:solidFill>
              </a:rPr>
              <a:t>fire TP=0.61, smoke TP =0.56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4">
            <a:alphaModFix/>
          </a:blip>
          <a:srcRect b="25578" l="13940" r="23238" t="27179"/>
          <a:stretch/>
        </p:blipFill>
        <p:spPr>
          <a:xfrm>
            <a:off x="3484900" y="2159367"/>
            <a:ext cx="5347409" cy="7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463" y="2212650"/>
            <a:ext cx="2472025" cy="57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20"/>
          <p:cNvSpPr txBox="1"/>
          <p:nvPr/>
        </p:nvSpPr>
        <p:spPr>
          <a:xfrm>
            <a:off x="586463" y="1875150"/>
            <a:ext cx="3000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&lt;roboflow metrics&gt;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4283088" y="1893313"/>
            <a:ext cx="3000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&lt;my model metrics&gt;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3674499" y="2802538"/>
            <a:ext cx="5347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&lt; my model backbone freeze/unfreeze metrics&gt;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4658600" y="3711750"/>
            <a:ext cx="3000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&lt; my model conf sweep metrics&gt;</a:t>
            </a:r>
            <a:endParaRPr/>
          </a:p>
        </p:txBody>
      </p:sp>
      <p:pic>
        <p:nvPicPr>
          <p:cNvPr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85078" t="0"/>
          <a:stretch/>
        </p:blipFill>
        <p:spPr>
          <a:xfrm>
            <a:off x="3484897" y="3092075"/>
            <a:ext cx="1197625" cy="7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 rotWithShape="1">
          <a:blip r:embed="rId6">
            <a:alphaModFix/>
          </a:blip>
          <a:srcRect b="45619" l="12846" r="30365" t="22762"/>
          <a:stretch/>
        </p:blipFill>
        <p:spPr>
          <a:xfrm>
            <a:off x="3484900" y="4024763"/>
            <a:ext cx="4735875" cy="66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 title="confusion_matrix_normalized.png"/>
          <p:cNvPicPr preferRelativeResize="0"/>
          <p:nvPr/>
        </p:nvPicPr>
        <p:blipFill rotWithShape="1">
          <a:blip r:embed="rId7">
            <a:alphaModFix/>
          </a:blip>
          <a:srcRect b="0" l="5178" r="9235" t="0"/>
          <a:stretch/>
        </p:blipFill>
        <p:spPr>
          <a:xfrm>
            <a:off x="715475" y="2785350"/>
            <a:ext cx="2472003" cy="2042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/>
          <p:nvPr/>
        </p:nvSpPr>
        <p:spPr>
          <a:xfrm>
            <a:off x="1503865" y="3120702"/>
            <a:ext cx="895200" cy="907800"/>
          </a:xfrm>
          <a:prstGeom prst="ellipse">
            <a:avLst/>
          </a:prstGeom>
          <a:noFill/>
          <a:ln cap="flat" cmpd="sng" w="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</p:txBody>
      </p:sp>
      <p:sp>
        <p:nvSpPr>
          <p:cNvPr id="157" name="Google Shape;157;p20"/>
          <p:cNvSpPr/>
          <p:nvPr/>
        </p:nvSpPr>
        <p:spPr>
          <a:xfrm>
            <a:off x="1093142" y="2687906"/>
            <a:ext cx="895200" cy="907800"/>
          </a:xfrm>
          <a:prstGeom prst="ellipse">
            <a:avLst/>
          </a:prstGeom>
          <a:noFill/>
          <a:ln cap="flat" cmpd="sng" w="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0"/>
          </a:p>
        </p:txBody>
      </p:sp>
      <p:sp>
        <p:nvSpPr>
          <p:cNvPr id="158" name="Google Shape;158;p20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-8-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925" y="1278844"/>
            <a:ext cx="1476100" cy="145596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6525" y="3096413"/>
            <a:ext cx="2805251" cy="166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1"/>
          <p:cNvPicPr preferRelativeResize="0"/>
          <p:nvPr/>
        </p:nvPicPr>
        <p:blipFill rotWithShape="1">
          <a:blip r:embed="rId5">
            <a:alphaModFix/>
          </a:blip>
          <a:srcRect b="9428" l="0" r="0" t="0"/>
          <a:stretch/>
        </p:blipFill>
        <p:spPr>
          <a:xfrm>
            <a:off x="4004675" y="1308712"/>
            <a:ext cx="2752950" cy="13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Ⅱ. 2</a:t>
            </a:r>
            <a:r>
              <a:rPr lang="ko"/>
              <a:t>차 모델 예측 결과</a:t>
            </a:r>
            <a:endParaRPr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0306" y="1278853"/>
            <a:ext cx="2338166" cy="1754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 rotWithShape="1">
          <a:blip r:embed="rId7">
            <a:alphaModFix/>
          </a:blip>
          <a:srcRect b="13367" l="0" r="0" t="0"/>
          <a:stretch/>
        </p:blipFill>
        <p:spPr>
          <a:xfrm>
            <a:off x="443850" y="2963650"/>
            <a:ext cx="3736374" cy="1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443850" y="999000"/>
            <a:ext cx="8256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스트리밍 영상 (crop한 결과)의 불꽃을 잘 감지하며, </a:t>
            </a:r>
            <a:r>
              <a:rPr lang="ko" sz="1200">
                <a:solidFill>
                  <a:schemeClr val="dk1"/>
                </a:solidFill>
              </a:rPr>
              <a:t>열화상 이미지도 감지</a:t>
            </a:r>
            <a:r>
              <a:rPr lang="ko" sz="1200">
                <a:solidFill>
                  <a:schemeClr val="dk1"/>
                </a:solidFill>
              </a:rPr>
              <a:t>하는 것을 확인</a:t>
            </a:r>
            <a:endParaRPr sz="1200"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8">
            <a:alphaModFix/>
          </a:blip>
          <a:srcRect b="24846" l="0" r="0" t="0"/>
          <a:stretch/>
        </p:blipFill>
        <p:spPr>
          <a:xfrm>
            <a:off x="6757625" y="1278850"/>
            <a:ext cx="2252650" cy="931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05900" y="3703725"/>
            <a:ext cx="2204375" cy="103282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-9-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75" name="Google Shape;175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92613" y="2907512"/>
            <a:ext cx="2484226" cy="1829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24450" y="2192400"/>
            <a:ext cx="3285824" cy="184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12">
            <a:alphaModFix/>
          </a:blip>
          <a:srcRect b="11000" l="0" r="0" t="0"/>
          <a:stretch/>
        </p:blipFill>
        <p:spPr>
          <a:xfrm>
            <a:off x="2758475" y="1278850"/>
            <a:ext cx="2411987" cy="1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 txBox="1"/>
          <p:nvPr>
            <p:ph type="title"/>
          </p:nvPr>
        </p:nvSpPr>
        <p:spPr>
          <a:xfrm>
            <a:off x="314050" y="190625"/>
            <a:ext cx="89868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Ⅲ. </a:t>
            </a:r>
            <a:r>
              <a:rPr lang="ko" sz="2750"/>
              <a:t>한국형 산불 조기예측 AI 모델 개발</a:t>
            </a:r>
            <a:endParaRPr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050" y="3164025"/>
            <a:ext cx="1925700" cy="130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420550" y="944900"/>
            <a:ext cx="7941600" cy="35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(</a:t>
            </a:r>
            <a:r>
              <a:rPr b="1" lang="ko" sz="1200">
                <a:solidFill>
                  <a:schemeClr val="dk1"/>
                </a:solidFill>
              </a:rPr>
              <a:t>3) 3차 모델: 한국 지역 위성 기반 조기 탐지 (NASA + Himawari)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100">
                <a:solidFill>
                  <a:schemeClr val="dk1"/>
                </a:solidFill>
              </a:rPr>
              <a:t>앞선 모델들이 화염·연기의 형태 기반 탐지에 초점을 두었다면, 본 단계에서는 </a:t>
            </a:r>
            <a:r>
              <a:rPr b="1" lang="ko" sz="1100">
                <a:solidFill>
                  <a:schemeClr val="dk1"/>
                </a:solidFill>
              </a:rPr>
              <a:t>열적 패턴(thermal signature)</a:t>
            </a:r>
            <a:r>
              <a:rPr lang="ko" sz="1100">
                <a:solidFill>
                  <a:schemeClr val="dk1"/>
                </a:solidFill>
              </a:rPr>
              <a:t> 을 직접 활용해 조기 탐지 정확도를 높이는 것을 목표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배경</a:t>
            </a:r>
            <a:r>
              <a:rPr lang="ko" sz="1200">
                <a:solidFill>
                  <a:schemeClr val="dk1"/>
                </a:solidFill>
              </a:rPr>
              <a:t>: 2025년 3월, NASA 위성이 한반도 연기를 포착했음에도 산불 조기탐지 실패 사례 발생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200">
                <a:solidFill>
                  <a:schemeClr val="dk1"/>
                </a:solidFill>
              </a:rPr>
              <a:t>목표</a:t>
            </a:r>
            <a:r>
              <a:rPr lang="ko" sz="1200">
                <a:solidFill>
                  <a:schemeClr val="dk1"/>
                </a:solidFill>
              </a:rPr>
              <a:t>: NASA FIRMS와 Himawari AHI 위성 데이터를 결합해 실시간 감지 모델 개발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주요 단계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ko" sz="1200">
                <a:solidFill>
                  <a:schemeClr val="dk1"/>
                </a:solidFill>
              </a:rPr>
              <a:t>데이터 수집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" sz="1200">
                <a:solidFill>
                  <a:schemeClr val="dk1"/>
                </a:solidFill>
              </a:rPr>
              <a:t>NASA FIRMS API 이용, 최근 3~5개월 한국지역 화재데이터 수집 (총 8,932건)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ko" sz="1200">
                <a:solidFill>
                  <a:schemeClr val="dk1"/>
                </a:solidFill>
              </a:rPr>
              <a:t>문제 ①</a:t>
            </a:r>
            <a:r>
              <a:rPr lang="ko" sz="1200">
                <a:solidFill>
                  <a:schemeClr val="dk1"/>
                </a:solidFill>
              </a:rPr>
              <a:t>: FIRMS 데이터 업로드 지연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ko" sz="1200">
                <a:solidFill>
                  <a:schemeClr val="dk1"/>
                </a:solidFill>
              </a:rPr>
              <a:t>해결 → Himawari AHI 실시간 데이터(15분 단위, 122,340장) 사용, 이미지 샘플 수  4,326개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" sz="1200">
                <a:solidFill>
                  <a:schemeClr val="dk1"/>
                </a:solidFill>
              </a:rPr>
              <a:t>AWS S3 + SQS 기반 파이프라인 구성 → Kibana 대시보드로 실시간 시각화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ko" sz="1200">
                <a:solidFill>
                  <a:schemeClr val="dk1"/>
                </a:solidFill>
              </a:rPr>
              <a:t>문제 ②</a:t>
            </a:r>
            <a:r>
              <a:rPr lang="ko" sz="1200">
                <a:solidFill>
                  <a:schemeClr val="dk1"/>
                </a:solidFill>
              </a:rPr>
              <a:t>: 정확한 화재 위치 식별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" sz="1200">
                <a:solidFill>
                  <a:schemeClr val="dk1"/>
                </a:solidFill>
              </a:rPr>
              <a:t>FIRMS 좌표와 Himawari 화상 매핑 → </a:t>
            </a:r>
            <a:r>
              <a:rPr b="1" lang="ko" sz="1200">
                <a:solidFill>
                  <a:schemeClr val="dk1"/>
                </a:solidFill>
              </a:rPr>
              <a:t>고유 슬롯(124)</a:t>
            </a:r>
            <a:r>
              <a:rPr lang="ko" sz="1200">
                <a:solidFill>
                  <a:schemeClr val="dk1"/>
                </a:solidFill>
              </a:rPr>
              <a:t> 생성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" sz="1200">
                <a:solidFill>
                  <a:schemeClr val="dk1"/>
                </a:solidFill>
              </a:rPr>
              <a:t>FIRMS 좌표 기반 </a:t>
            </a:r>
            <a:r>
              <a:rPr b="1" lang="ko" sz="1200">
                <a:solidFill>
                  <a:schemeClr val="dk1"/>
                </a:solidFill>
              </a:rPr>
              <a:t>mask label</a:t>
            </a:r>
            <a:r>
              <a:rPr lang="ko" sz="1200">
                <a:solidFill>
                  <a:schemeClr val="dk1"/>
                </a:solidFill>
              </a:rPr>
              <a:t> 생성 후 fixel z-score로 정규화</a:t>
            </a:r>
            <a:br>
              <a:rPr lang="ko" sz="1200">
                <a:solidFill>
                  <a:schemeClr val="dk1"/>
                </a:solidFill>
              </a:rPr>
            </a:br>
            <a:r>
              <a:rPr lang="ko" sz="1200">
                <a:solidFill>
                  <a:schemeClr val="dk1"/>
                </a:solidFill>
              </a:rPr>
              <a:t>동일 크기 crop으로 </a:t>
            </a:r>
            <a:r>
              <a:rPr b="1" lang="ko" sz="1200">
                <a:solidFill>
                  <a:schemeClr val="dk1"/>
                </a:solidFill>
              </a:rPr>
              <a:t>mask chip dataset</a:t>
            </a:r>
            <a:r>
              <a:rPr lang="ko" sz="1200">
                <a:solidFill>
                  <a:schemeClr val="dk1"/>
                </a:solidFill>
              </a:rPr>
              <a:t> 구성 및 segmentation 모델 학습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" sz="1200">
                <a:solidFill>
                  <a:schemeClr val="dk1"/>
                </a:solidFill>
              </a:rPr>
              <a:t>예측 결과에 </a:t>
            </a:r>
            <a:r>
              <a:rPr b="1" lang="ko" sz="1200">
                <a:solidFill>
                  <a:schemeClr val="dk1"/>
                </a:solidFill>
              </a:rPr>
              <a:t>fire gate + RGB overlay</a:t>
            </a:r>
            <a:r>
              <a:rPr lang="ko" sz="1200">
                <a:solidFill>
                  <a:schemeClr val="dk1"/>
                </a:solidFill>
              </a:rPr>
              <a:t> 적용하여 시각화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-11-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 txBox="1"/>
          <p:nvPr>
            <p:ph type="title"/>
          </p:nvPr>
        </p:nvSpPr>
        <p:spPr>
          <a:xfrm>
            <a:off x="268625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Ⅲ. 3</a:t>
            </a:r>
            <a:r>
              <a:rPr lang="ko"/>
              <a:t>차 모델 데이터셋 &amp; 라벨링 </a:t>
            </a:r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 b="4235" l="7279" r="0" t="1229"/>
          <a:stretch/>
        </p:blipFill>
        <p:spPr>
          <a:xfrm>
            <a:off x="4797900" y="1810800"/>
            <a:ext cx="3838649" cy="311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 title="Screenshot 2025-10-14 at 18.39.53.png"/>
          <p:cNvPicPr preferRelativeResize="0"/>
          <p:nvPr/>
        </p:nvPicPr>
        <p:blipFill rotWithShape="1">
          <a:blip r:embed="rId4">
            <a:alphaModFix/>
          </a:blip>
          <a:srcRect b="2766" l="0" r="0" t="6251"/>
          <a:stretch/>
        </p:blipFill>
        <p:spPr>
          <a:xfrm>
            <a:off x="629400" y="1880250"/>
            <a:ext cx="4204350" cy="304114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>
            <a:off x="351150" y="971200"/>
            <a:ext cx="8441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10월 11일 : </a:t>
            </a:r>
            <a:r>
              <a:rPr lang="ko" sz="1200">
                <a:solidFill>
                  <a:schemeClr val="dk1"/>
                </a:solidFill>
              </a:rPr>
              <a:t>firms fire dataset</a:t>
            </a:r>
            <a:r>
              <a:rPr lang="ko" sz="1200">
                <a:solidFill>
                  <a:schemeClr val="dk1"/>
                </a:solidFill>
              </a:rPr>
              <a:t>과 himawari 8/9 ahi를 매핑하여 훈련 데이터(이미지)를 구성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2025년 3~5월 한국 대형 산불이 발생했던 지역 약 12곳의 피처 포함 데이터 총 9,582개, 실시간 이미지 122,340개 수집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유효한 시간대 슬롯 총 124개  수집 =&gt; b14(열적외선) 밴드를 통해 마스크를 생성함 총  4,326개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b14 열적외선 밴드 유효 슬롯을 통해 양성과 음성칩 파일(tif 형식)을 생성함 (3,000x3,000)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98" name="Google Shape;19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9275" y="198123"/>
            <a:ext cx="1587045" cy="793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2179" y="198106"/>
            <a:ext cx="1587045" cy="79352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/>
          <p:nvPr/>
        </p:nvSpPr>
        <p:spPr>
          <a:xfrm>
            <a:off x="6381516" y="7363"/>
            <a:ext cx="743100" cy="615300"/>
          </a:xfrm>
          <a:prstGeom prst="ellipse">
            <a:avLst/>
          </a:prstGeom>
          <a:noFill/>
          <a:ln cap="flat" cmpd="sng" w="4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40925" spcFirstLastPara="1" rIns="40925" wrap="square" tIns="4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27"/>
          </a:p>
        </p:txBody>
      </p:sp>
      <p:sp>
        <p:nvSpPr>
          <p:cNvPr id="201" name="Google Shape;201;p23"/>
          <p:cNvSpPr/>
          <p:nvPr/>
        </p:nvSpPr>
        <p:spPr>
          <a:xfrm>
            <a:off x="7795508" y="13238"/>
            <a:ext cx="743100" cy="615300"/>
          </a:xfrm>
          <a:prstGeom prst="ellipse">
            <a:avLst/>
          </a:prstGeom>
          <a:noFill/>
          <a:ln cap="flat" cmpd="sng" w="4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40925" spcFirstLastPara="1" rIns="40925" wrap="square" tIns="4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27"/>
          </a:p>
        </p:txBody>
      </p:sp>
      <p:sp>
        <p:nvSpPr>
          <p:cNvPr id="202" name="Google Shape;202;p23"/>
          <p:cNvSpPr txBox="1"/>
          <p:nvPr/>
        </p:nvSpPr>
        <p:spPr>
          <a:xfrm>
            <a:off x="6118275" y="7350"/>
            <a:ext cx="11979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&lt;양성&gt;</a:t>
            </a:r>
            <a:endParaRPr sz="906"/>
          </a:p>
        </p:txBody>
      </p:sp>
      <p:sp>
        <p:nvSpPr>
          <p:cNvPr id="203" name="Google Shape;203;p23"/>
          <p:cNvSpPr txBox="1"/>
          <p:nvPr/>
        </p:nvSpPr>
        <p:spPr>
          <a:xfrm>
            <a:off x="7625850" y="13225"/>
            <a:ext cx="10107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&lt;양성&gt;</a:t>
            </a:r>
            <a:endParaRPr sz="906"/>
          </a:p>
        </p:txBody>
      </p:sp>
      <p:sp>
        <p:nvSpPr>
          <p:cNvPr id="204" name="Google Shape;204;p23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-12-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Ⅲ. 3</a:t>
            </a:r>
            <a:r>
              <a:rPr lang="ko"/>
              <a:t>차 모델링</a:t>
            </a:r>
            <a:endParaRPr sz="17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7"/>
          </a:p>
        </p:txBody>
      </p:sp>
      <p:pic>
        <p:nvPicPr>
          <p:cNvPr id="212" name="Google Shape;212;p24" title="Unknow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00" y="1737888"/>
            <a:ext cx="5789331" cy="308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 txBox="1"/>
          <p:nvPr/>
        </p:nvSpPr>
        <p:spPr>
          <a:xfrm>
            <a:off x="439500" y="999000"/>
            <a:ext cx="839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third model framework</a:t>
            </a:r>
            <a:r>
              <a:rPr lang="ko" sz="1200">
                <a:solidFill>
                  <a:schemeClr val="dk1"/>
                </a:solidFill>
              </a:rPr>
              <a:t> architecture: (smp.Unet), encoder (restnet34)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smoke test</a:t>
            </a:r>
            <a:r>
              <a:rPr lang="ko" sz="1200">
                <a:solidFill>
                  <a:schemeClr val="dk1"/>
                </a:solidFill>
              </a:rPr>
              <a:t>로 </a:t>
            </a:r>
            <a:r>
              <a:rPr lang="ko" sz="1200">
                <a:solidFill>
                  <a:schemeClr val="dk1"/>
                </a:solidFill>
              </a:rPr>
              <a:t>4가지 모델을 돌</a:t>
            </a:r>
            <a:r>
              <a:rPr lang="ko" sz="1200">
                <a:solidFill>
                  <a:schemeClr val="dk1"/>
                </a:solidFill>
              </a:rPr>
              <a:t>려보고</a:t>
            </a:r>
            <a:r>
              <a:rPr lang="ko" sz="1200">
                <a:solidFill>
                  <a:schemeClr val="dk1"/>
                </a:solidFill>
              </a:rPr>
              <a:t> best </a:t>
            </a:r>
            <a:r>
              <a:rPr lang="ko" sz="1200">
                <a:solidFill>
                  <a:schemeClr val="dk1"/>
                </a:solidFill>
              </a:rPr>
              <a:t>성능을 보인</a:t>
            </a:r>
            <a:r>
              <a:rPr lang="ko" sz="1200">
                <a:solidFill>
                  <a:schemeClr val="dk1"/>
                </a:solidFill>
              </a:rPr>
              <a:t> Unet restnet34 + force, dice</a:t>
            </a:r>
            <a:r>
              <a:rPr lang="ko" sz="1200">
                <a:solidFill>
                  <a:schemeClr val="dk1"/>
                </a:solidFill>
              </a:rPr>
              <a:t>로 미세 튜닝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최종 모델은  F1 score=0.917, Precision=0.916, Recal=0.926로 성능이 가장 크게 개선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-13-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15" name="Google Shape;21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625" y="1798375"/>
            <a:ext cx="2222255" cy="1481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8571" y="3344047"/>
            <a:ext cx="2222230" cy="1481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675" y="2604397"/>
            <a:ext cx="2513976" cy="4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49175" y="4466448"/>
            <a:ext cx="4693353" cy="3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/>
          <p:nvPr/>
        </p:nvSpPr>
        <p:spPr>
          <a:xfrm>
            <a:off x="36925" y="4889650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"/>
          <p:cNvSpPr/>
          <p:nvPr/>
        </p:nvSpPr>
        <p:spPr>
          <a:xfrm>
            <a:off x="0" y="-2795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5"/>
          <p:cNvSpPr txBox="1"/>
          <p:nvPr>
            <p:ph type="title"/>
          </p:nvPr>
        </p:nvSpPr>
        <p:spPr>
          <a:xfrm>
            <a:off x="311700" y="185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Ⅲ. </a:t>
            </a:r>
            <a:r>
              <a:rPr lang="ko"/>
              <a:t> 3차 모델 예측 결과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473250" y="768150"/>
            <a:ext cx="83589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6650" wrap="square" tIns="91425">
            <a:sp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B14 밴드 이미지 칩의 온도 대비로 3월 25일 산청-하동 17시 10분 화재 구역 예측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(1) 예측 - 알지비 합성이 안되었고 과검출 되는 경향 존재 - 공격검출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(2) 예측 -알지비 합성이 되었고 빨간 점을 잘 검출함.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(3) 예측 - 붉은 점이 사라져 과소 검출됨- 보수 검출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(4) 예측 - firms 구역과 항상 일치하지는 않음(3시간 이내 관측된 데이터)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(5) 예측 - prediction 대비 노란 지점이 거리가 있어, 추후 더 작은 사이즈로 리사이즈 필요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(6) 예측 - my model이 예측한 핫스팟 위치와 nasa firms 실제 화점이 상당히 겹쳐있음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Precisioin=0.71은 대부분 예측이 실제 불 근처에서 발생하나 recall=0.26은 일부 화점 놓치고 있음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27" name="Google Shape;2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357844" y="3608868"/>
            <a:ext cx="2144732" cy="1280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222637" y="3619156"/>
            <a:ext cx="1941541" cy="126023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-14-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30" name="Google Shape;23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6673" y="2648850"/>
            <a:ext cx="2615619" cy="19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-9122894" y="3387475"/>
            <a:ext cx="1538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75" lIns="46875" spcFirstLastPara="1" rIns="46875" wrap="square" tIns="468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615"/>
              </a:spcAft>
              <a:buNone/>
            </a:pPr>
            <a:r>
              <a:rPr lang="ko" sz="915">
                <a:solidFill>
                  <a:schemeClr val="dk1"/>
                </a:solidFill>
              </a:rPr>
              <a:t> &lt;10</a:t>
            </a:r>
            <a:r>
              <a:rPr lang="ko" sz="915">
                <a:solidFill>
                  <a:schemeClr val="dk1"/>
                </a:solidFill>
              </a:rPr>
              <a:t>월 13일</a:t>
            </a:r>
            <a:r>
              <a:rPr lang="ko" sz="915">
                <a:solidFill>
                  <a:schemeClr val="dk1"/>
                </a:solidFill>
              </a:rPr>
              <a:t>&gt;</a:t>
            </a:r>
            <a:endParaRPr sz="915"/>
          </a:p>
        </p:txBody>
      </p:sp>
      <p:sp>
        <p:nvSpPr>
          <p:cNvPr id="232" name="Google Shape;232;p25"/>
          <p:cNvSpPr txBox="1"/>
          <p:nvPr/>
        </p:nvSpPr>
        <p:spPr>
          <a:xfrm>
            <a:off x="-6025894" y="2911925"/>
            <a:ext cx="1538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75" lIns="46875" spcFirstLastPara="1" rIns="46875" wrap="square" tIns="468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615"/>
              </a:spcAft>
              <a:buNone/>
            </a:pPr>
            <a:r>
              <a:rPr lang="ko" sz="915">
                <a:solidFill>
                  <a:schemeClr val="dk1"/>
                </a:solidFill>
              </a:rPr>
              <a:t> &lt;3월 25일&gt;</a:t>
            </a:r>
            <a:endParaRPr sz="915"/>
          </a:p>
        </p:txBody>
      </p:sp>
      <p:sp>
        <p:nvSpPr>
          <p:cNvPr id="233" name="Google Shape;233;p25"/>
          <p:cNvSpPr txBox="1"/>
          <p:nvPr/>
        </p:nvSpPr>
        <p:spPr>
          <a:xfrm>
            <a:off x="-3774669" y="2963325"/>
            <a:ext cx="1538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75" lIns="46875" spcFirstLastPara="1" rIns="46875" wrap="square" tIns="468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615"/>
              </a:spcAft>
              <a:buNone/>
            </a:pPr>
            <a:r>
              <a:rPr lang="ko" sz="915">
                <a:solidFill>
                  <a:schemeClr val="dk1"/>
                </a:solidFill>
              </a:rPr>
              <a:t> &lt;</a:t>
            </a:r>
            <a:r>
              <a:rPr lang="ko" sz="915">
                <a:solidFill>
                  <a:schemeClr val="dk1"/>
                </a:solidFill>
              </a:rPr>
              <a:t>3월 25일</a:t>
            </a:r>
            <a:r>
              <a:rPr lang="ko" sz="915">
                <a:solidFill>
                  <a:schemeClr val="dk1"/>
                </a:solidFill>
              </a:rPr>
              <a:t>&gt;</a:t>
            </a:r>
            <a:endParaRPr sz="915"/>
          </a:p>
        </p:txBody>
      </p:sp>
      <p:pic>
        <p:nvPicPr>
          <p:cNvPr id="234" name="Google Shape;23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4361" y="3235062"/>
            <a:ext cx="2144725" cy="938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6537" y="2648850"/>
            <a:ext cx="3414501" cy="21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Ⅲ. 4</a:t>
            </a:r>
            <a:r>
              <a:rPr lang="ko"/>
              <a:t>차 모델 데이터셋 </a:t>
            </a:r>
            <a:endParaRPr/>
          </a:p>
        </p:txBody>
      </p:sp>
      <p:sp>
        <p:nvSpPr>
          <p:cNvPr id="243" name="Google Shape;243;p26"/>
          <p:cNvSpPr txBox="1"/>
          <p:nvPr>
            <p:ph idx="1" type="body"/>
          </p:nvPr>
        </p:nvSpPr>
        <p:spPr>
          <a:xfrm>
            <a:off x="453875" y="988200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2025년 3.21~5.1 한국 지역(3곳 - 산청-하동, 안동-클러스터, 대구-경북)의 산불 데이터(이미지)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해당 지역 일자 최초 보고된 산불 발생 시점으로부터 2시간 이내 10분 간격으로 실시간 이미지를 수집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himawari9 AHI 중 L1b 센서-FLDK (.DAT.bz2 형태), L2센서-NetCDF4형태)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밴드 B7 (3.9 µm, Shortwave IR) / B14 (11 µm, Thermal IR)</a:t>
            </a:r>
            <a:endParaRPr sz="14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총 255장(GeoTIFF) 한국 영역 크롭 → 96x96로 타일링함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최종 데이터셋: 총 1,453개 이미지 칩, 타일 수 766(양성=535, 음성=231로 양성 비율 70%)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44" name="Google Shape;244;p26"/>
          <p:cNvPicPr preferRelativeResize="0"/>
          <p:nvPr/>
        </p:nvPicPr>
        <p:blipFill rotWithShape="1">
          <a:blip r:embed="rId3">
            <a:alphaModFix/>
          </a:blip>
          <a:srcRect b="0" l="0" r="11111" t="8333"/>
          <a:stretch/>
        </p:blipFill>
        <p:spPr>
          <a:xfrm>
            <a:off x="5170450" y="2821050"/>
            <a:ext cx="3677025" cy="16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0788" y="2807101"/>
            <a:ext cx="2483212" cy="78464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/>
        </p:nvSpPr>
        <p:spPr>
          <a:xfrm>
            <a:off x="3151388" y="2571758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&lt;이미지 칩 수&gt;</a:t>
            </a:r>
            <a:endParaRPr sz="906">
              <a:solidFill>
                <a:schemeClr val="dk1"/>
              </a:solidFill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3197813" y="3595495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&lt;타일 수&gt;</a:t>
            </a:r>
            <a:endParaRPr sz="906">
              <a:solidFill>
                <a:schemeClr val="dk1"/>
              </a:solidFill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6001725" y="2571745"/>
            <a:ext cx="2014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&lt;</a:t>
            </a:r>
            <a:r>
              <a:rPr lang="ko" sz="906">
                <a:solidFill>
                  <a:schemeClr val="dk1"/>
                </a:solidFill>
              </a:rPr>
              <a:t>지역 별 양성, 음성 타일 수</a:t>
            </a:r>
            <a:r>
              <a:rPr lang="ko" sz="906">
                <a:solidFill>
                  <a:schemeClr val="dk1"/>
                </a:solidFill>
              </a:rPr>
              <a:t>&gt;</a:t>
            </a:r>
            <a:endParaRPr sz="906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6"/>
              </a:spcBef>
              <a:spcAft>
                <a:spcPts val="806"/>
              </a:spcAft>
              <a:buNone/>
            </a:pPr>
            <a:r>
              <a:t/>
            </a:r>
            <a:endParaRPr sz="906">
              <a:solidFill>
                <a:schemeClr val="dk1"/>
              </a:solidFill>
            </a:endParaRPr>
          </a:p>
        </p:txBody>
      </p:sp>
      <p:pic>
        <p:nvPicPr>
          <p:cNvPr id="249" name="Google Shape;249;p26"/>
          <p:cNvPicPr preferRelativeResize="0"/>
          <p:nvPr/>
        </p:nvPicPr>
        <p:blipFill rotWithShape="1">
          <a:blip r:embed="rId5">
            <a:alphaModFix/>
          </a:blip>
          <a:srcRect b="25440" l="0" r="0" t="0"/>
          <a:stretch/>
        </p:blipFill>
        <p:spPr>
          <a:xfrm>
            <a:off x="2600788" y="3821025"/>
            <a:ext cx="2483225" cy="58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875" y="2860400"/>
            <a:ext cx="2146926" cy="167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 txBox="1"/>
          <p:nvPr/>
        </p:nvSpPr>
        <p:spPr>
          <a:xfrm>
            <a:off x="691906" y="2585700"/>
            <a:ext cx="1538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75" lIns="46875" spcFirstLastPara="1" rIns="46875" wrap="square" tIns="468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615"/>
              </a:spcAft>
              <a:buNone/>
            </a:pPr>
            <a:r>
              <a:rPr lang="ko" sz="915">
                <a:solidFill>
                  <a:schemeClr val="dk1"/>
                </a:solidFill>
              </a:rPr>
              <a:t> &lt;전세계 - 한국 경계 크롭&gt;</a:t>
            </a:r>
            <a:endParaRPr sz="915"/>
          </a:p>
        </p:txBody>
      </p:sp>
      <p:sp>
        <p:nvSpPr>
          <p:cNvPr id="252" name="Google Shape;252;p26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-15-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Ⅲ. 4</a:t>
            </a:r>
            <a:r>
              <a:rPr lang="ko"/>
              <a:t>차 모델 데이터셋 &amp; 라벨링 (mask)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480300" y="1033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Himawari-9 AHI 위성의 열적 적외 채널(B7: 3.9 µm, B14: 11 µm)fmf 이용하여 표면 온도 차(ΔBT = B7 − B14)를 계산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마스크 생성을 위해 </a:t>
            </a:r>
            <a:r>
              <a:rPr lang="ko" sz="1200">
                <a:solidFill>
                  <a:schemeClr val="dk1"/>
                </a:solidFill>
              </a:rPr>
              <a:t>ΔBT( B7–B14) ≥ 15 K 이상인 영역을 불 검출의 1차 임계값으로 설정함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총 최종 마스크는 보다 엄격한 수준의 핫스팟인  ΔBT &gt; 15 K and B14 &gt; 280 K 조건의 2차 임계값으로 설정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Char char="●"/>
            </a:pPr>
            <a:r>
              <a:rPr lang="ko" sz="1200">
                <a:solidFill>
                  <a:srgbClr val="383838"/>
                </a:solidFill>
              </a:rPr>
              <a:t>전체 픽셀 수: 23,805,952 px 중 전체 핫스팟 수: 13,701 px, 전체 비율  0.0576% </a:t>
            </a:r>
            <a:endParaRPr sz="1200">
              <a:solidFill>
                <a:srgbClr val="383838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Char char="●"/>
            </a:pPr>
            <a:r>
              <a:rPr lang="ko" sz="1200">
                <a:solidFill>
                  <a:srgbClr val="383838"/>
                </a:solidFill>
              </a:rPr>
              <a:t>“불균형 상황에서도 예측이 가능한가” (아주 작은 픽셀도 탐지하기 위한 목적) </a:t>
            </a:r>
            <a:endParaRPr sz="1200">
              <a:solidFill>
                <a:srgbClr val="383838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Char char="●"/>
            </a:pPr>
            <a:r>
              <a:rPr lang="ko" sz="1200">
                <a:solidFill>
                  <a:srgbClr val="383838"/>
                </a:solidFill>
              </a:rPr>
              <a:t>구름 냉각 영역을 배제하고 실제 발열 지점을 안정적으로  검출하기 위한 2단계 임계값</a:t>
            </a:r>
            <a:endParaRPr sz="1200">
              <a:solidFill>
                <a:srgbClr val="383838"/>
              </a:solidFill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762300" y="4483963"/>
            <a:ext cx="876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ko" sz="900">
                <a:solidFill>
                  <a:schemeClr val="dk1"/>
                </a:solidFill>
              </a:rPr>
              <a:t>*그래</a:t>
            </a:r>
            <a:r>
              <a:rPr i="1" lang="ko" sz="900">
                <a:solidFill>
                  <a:schemeClr val="dk1"/>
                </a:solidFill>
              </a:rPr>
              <a:t> 설명: </a:t>
            </a:r>
            <a:r>
              <a:rPr i="1" lang="ko" sz="900">
                <a:solidFill>
                  <a:schemeClr val="dk1"/>
                </a:solidFill>
              </a:rPr>
              <a:t>히스토그램은</a:t>
            </a:r>
            <a:r>
              <a:rPr i="1" lang="ko" sz="900">
                <a:solidFill>
                  <a:schemeClr val="dk1"/>
                </a:solidFill>
              </a:rPr>
              <a:t> B7, B14 채널의 온도 분포를 나타내며  x축은 복사온도, y축은 화소 수를 의미함.)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261" name="Google Shape;261;p27"/>
          <p:cNvPicPr preferRelativeResize="0"/>
          <p:nvPr/>
        </p:nvPicPr>
        <p:blipFill rotWithShape="1">
          <a:blip r:embed="rId3">
            <a:alphaModFix/>
          </a:blip>
          <a:srcRect b="0" l="49829" r="0" t="0"/>
          <a:stretch/>
        </p:blipFill>
        <p:spPr>
          <a:xfrm>
            <a:off x="1007837" y="2505213"/>
            <a:ext cx="2327476" cy="11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7"/>
          <p:cNvSpPr txBox="1"/>
          <p:nvPr/>
        </p:nvSpPr>
        <p:spPr>
          <a:xfrm>
            <a:off x="3750671" y="2310189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</a:t>
            </a:r>
            <a:r>
              <a:rPr lang="ko" sz="906">
                <a:solidFill>
                  <a:schemeClr val="dk1"/>
                </a:solidFill>
              </a:rPr>
              <a:t> 핫스팟의 </a:t>
            </a:r>
            <a:r>
              <a:rPr lang="ko" sz="906">
                <a:solidFill>
                  <a:schemeClr val="dk1"/>
                </a:solidFill>
              </a:rPr>
              <a:t>열점별 </a:t>
            </a:r>
            <a:r>
              <a:rPr lang="ko" sz="906">
                <a:solidFill>
                  <a:schemeClr val="dk1"/>
                </a:solidFill>
              </a:rPr>
              <a:t>히스토그램</a:t>
            </a:r>
            <a:r>
              <a:rPr lang="ko" sz="906">
                <a:solidFill>
                  <a:schemeClr val="dk1"/>
                </a:solidFill>
              </a:rPr>
              <a:t>&gt;</a:t>
            </a:r>
            <a:endParaRPr sz="906"/>
          </a:p>
        </p:txBody>
      </p:sp>
      <p:sp>
        <p:nvSpPr>
          <p:cNvPr id="263" name="Google Shape;263;p27"/>
          <p:cNvSpPr txBox="1"/>
          <p:nvPr/>
        </p:nvSpPr>
        <p:spPr>
          <a:xfrm>
            <a:off x="1224300" y="2310195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</a:t>
            </a:r>
            <a:r>
              <a:rPr lang="ko" sz="906">
                <a:solidFill>
                  <a:schemeClr val="dk1"/>
                </a:solidFill>
              </a:rPr>
              <a:t>정상온도 대 핫스팟 온도 히스토그램</a:t>
            </a:r>
            <a:r>
              <a:rPr lang="ko" sz="906">
                <a:solidFill>
                  <a:schemeClr val="dk1"/>
                </a:solidFill>
              </a:rPr>
              <a:t>&gt;</a:t>
            </a:r>
            <a:endParaRPr sz="906"/>
          </a:p>
        </p:txBody>
      </p:sp>
      <p:pic>
        <p:nvPicPr>
          <p:cNvPr id="264" name="Google Shape;26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013" y="2538625"/>
            <a:ext cx="2184925" cy="129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8451" y="2505226"/>
            <a:ext cx="1571696" cy="11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7"/>
          <p:cNvPicPr preferRelativeResize="0"/>
          <p:nvPr/>
        </p:nvPicPr>
        <p:blipFill rotWithShape="1">
          <a:blip r:embed="rId6">
            <a:alphaModFix/>
          </a:blip>
          <a:srcRect b="0" l="0" r="5803" t="0"/>
          <a:stretch/>
        </p:blipFill>
        <p:spPr>
          <a:xfrm>
            <a:off x="4450950" y="3723163"/>
            <a:ext cx="431965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4663" y="3723175"/>
            <a:ext cx="35337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/>
        </p:nvSpPr>
        <p:spPr>
          <a:xfrm>
            <a:off x="6277059" y="2310189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 </a:t>
            </a:r>
            <a:r>
              <a:rPr lang="ko" sz="906">
                <a:solidFill>
                  <a:schemeClr val="dk1"/>
                </a:solidFill>
              </a:rPr>
              <a:t>지역별 핫스팟의 분포&gt;</a:t>
            </a:r>
            <a:endParaRPr sz="906"/>
          </a:p>
        </p:txBody>
      </p:sp>
      <p:sp>
        <p:nvSpPr>
          <p:cNvPr id="269" name="Google Shape;269;p27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-16-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8"/>
          <p:cNvSpPr txBox="1"/>
          <p:nvPr>
            <p:ph type="title"/>
          </p:nvPr>
        </p:nvSpPr>
        <p:spPr>
          <a:xfrm>
            <a:off x="311700" y="25963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Ⅲ. </a:t>
            </a:r>
            <a:r>
              <a:rPr lang="ko"/>
              <a:t>4차 모델 라벨링 (mask) 샘플 &amp; 모델링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538" y="3297925"/>
            <a:ext cx="3407825" cy="133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550" y="1883925"/>
            <a:ext cx="3407815" cy="133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/>
          <p:nvPr/>
        </p:nvSpPr>
        <p:spPr>
          <a:xfrm>
            <a:off x="2392325" y="2693063"/>
            <a:ext cx="525300" cy="479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400875" y="1050438"/>
            <a:ext cx="674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양성/음성 마스크 생성 결과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아주 작은 픽셀도 양성으로 포함(1점 이상 모두 양성)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1267638" y="1655995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</a:t>
            </a:r>
            <a:r>
              <a:rPr lang="ko" sz="906">
                <a:solidFill>
                  <a:schemeClr val="dk1"/>
                </a:solidFill>
              </a:rPr>
              <a:t>양성</a:t>
            </a:r>
            <a:r>
              <a:rPr lang="ko" sz="906">
                <a:solidFill>
                  <a:schemeClr val="dk1"/>
                </a:solidFill>
              </a:rPr>
              <a:t>&gt;</a:t>
            </a:r>
            <a:endParaRPr sz="906"/>
          </a:p>
        </p:txBody>
      </p:sp>
      <p:sp>
        <p:nvSpPr>
          <p:cNvPr id="282" name="Google Shape;282;p28"/>
          <p:cNvSpPr txBox="1"/>
          <p:nvPr/>
        </p:nvSpPr>
        <p:spPr>
          <a:xfrm>
            <a:off x="1267638" y="3162420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</a:t>
            </a:r>
            <a:r>
              <a:rPr lang="ko" sz="906">
                <a:solidFill>
                  <a:schemeClr val="dk1"/>
                </a:solidFill>
              </a:rPr>
              <a:t>음</a:t>
            </a:r>
            <a:r>
              <a:rPr lang="ko" sz="906">
                <a:solidFill>
                  <a:schemeClr val="dk1"/>
                </a:solidFill>
              </a:rPr>
              <a:t>성&gt;</a:t>
            </a:r>
            <a:endParaRPr sz="906"/>
          </a:p>
        </p:txBody>
      </p:sp>
      <p:sp>
        <p:nvSpPr>
          <p:cNvPr id="283" name="Google Shape;283;p28"/>
          <p:cNvSpPr txBox="1"/>
          <p:nvPr/>
        </p:nvSpPr>
        <p:spPr>
          <a:xfrm>
            <a:off x="4283100" y="4784400"/>
            <a:ext cx="577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-17-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84" name="Google Shape;284;p28"/>
          <p:cNvSpPr txBox="1"/>
          <p:nvPr>
            <p:ph idx="1" type="body"/>
          </p:nvPr>
        </p:nvSpPr>
        <p:spPr>
          <a:xfrm>
            <a:off x="4393200" y="1050450"/>
            <a:ext cx="47508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3차 모델에서 가장 성능이 좋았던  </a:t>
            </a:r>
            <a:r>
              <a:rPr lang="ko" sz="1200">
                <a:solidFill>
                  <a:schemeClr val="dk1"/>
                </a:solidFill>
              </a:rPr>
              <a:t>Unet restnet34 + force, dice를 사용하여 학습 및 훈련 진행</a:t>
            </a:r>
            <a:endParaRPr i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[VAL] thr=0.75  (Recall≥0.9 -&gt; R=0.905, P=0.371, F1=0.526)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85" name="Google Shape;28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9699" y="3174615"/>
            <a:ext cx="3922604" cy="1456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0728" y="2108163"/>
            <a:ext cx="4108650" cy="152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/>
          <p:nvPr/>
        </p:nvSpPr>
        <p:spPr>
          <a:xfrm>
            <a:off x="72375" y="5143500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"/>
          <p:cNvSpPr txBox="1"/>
          <p:nvPr>
            <p:ph type="title"/>
          </p:nvPr>
        </p:nvSpPr>
        <p:spPr>
          <a:xfrm>
            <a:off x="434675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Ⅲ. 4</a:t>
            </a:r>
            <a:r>
              <a:rPr lang="ko"/>
              <a:t>차 모델링 예측 결과</a:t>
            </a:r>
            <a:endParaRPr/>
          </a:p>
        </p:txBody>
      </p:sp>
      <p:sp>
        <p:nvSpPr>
          <p:cNvPr id="294" name="Google Shape;294;p29"/>
          <p:cNvSpPr txBox="1"/>
          <p:nvPr>
            <p:ph idx="1" type="body"/>
          </p:nvPr>
        </p:nvSpPr>
        <p:spPr>
          <a:xfrm>
            <a:off x="311688" y="102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Pred 부분에서 검정색 부분이 한반도 부근이면 하얀 부분이 불 영역이며, 오른쪽은 모델이 불이라고  예측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검증 배치에서 양성이라고 판단한 영역이 많음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테스트 배치에서 성능이 낮아 양성 패치 오버샘플링과 freeze 등으로 불씨를 빨리 보도록 함에도 3차에 비해 낮은 성능능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결론: 산불 예측 데이터셋에는 지역의 다양성이 중요하며 3차 모델의 결과가 일반화가 잘 되는 경향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95" name="Google Shape;2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0425" y="2253863"/>
            <a:ext cx="2150500" cy="232212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9"/>
          <p:cNvSpPr txBox="1"/>
          <p:nvPr/>
        </p:nvSpPr>
        <p:spPr>
          <a:xfrm>
            <a:off x="3388434" y="1970264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 </a:t>
            </a:r>
            <a:r>
              <a:rPr lang="ko" sz="906">
                <a:solidFill>
                  <a:schemeClr val="dk1"/>
                </a:solidFill>
              </a:rPr>
              <a:t>테스트 </a:t>
            </a:r>
            <a:r>
              <a:rPr lang="ko" sz="906">
                <a:solidFill>
                  <a:schemeClr val="dk1"/>
                </a:solidFill>
              </a:rPr>
              <a:t> 배치&gt;</a:t>
            </a:r>
            <a:endParaRPr sz="906"/>
          </a:p>
        </p:txBody>
      </p:sp>
      <p:sp>
        <p:nvSpPr>
          <p:cNvPr id="297" name="Google Shape;297;p29"/>
          <p:cNvSpPr txBox="1"/>
          <p:nvPr/>
        </p:nvSpPr>
        <p:spPr>
          <a:xfrm>
            <a:off x="4283100" y="4675100"/>
            <a:ext cx="57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-19-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275" y="2762424"/>
            <a:ext cx="2958131" cy="9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761734" y="2517714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 </a:t>
            </a:r>
            <a:r>
              <a:rPr lang="ko" sz="906">
                <a:solidFill>
                  <a:schemeClr val="dk1"/>
                </a:solidFill>
              </a:rPr>
              <a:t>검증</a:t>
            </a:r>
            <a:r>
              <a:rPr lang="ko" sz="906">
                <a:solidFill>
                  <a:schemeClr val="dk1"/>
                </a:solidFill>
              </a:rPr>
              <a:t>  배치&gt;</a:t>
            </a:r>
            <a:endParaRPr sz="906"/>
          </a:p>
        </p:txBody>
      </p:sp>
      <p:sp>
        <p:nvSpPr>
          <p:cNvPr id="300" name="Google Shape;300;p29"/>
          <p:cNvSpPr txBox="1"/>
          <p:nvPr/>
        </p:nvSpPr>
        <p:spPr>
          <a:xfrm>
            <a:off x="6150009" y="2046477"/>
            <a:ext cx="20145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1375" lIns="61375" spcFirstLastPara="1" rIns="61375" wrap="square" tIns="613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806"/>
              </a:spcAft>
              <a:buNone/>
            </a:pPr>
            <a:r>
              <a:rPr lang="ko" sz="906">
                <a:solidFill>
                  <a:schemeClr val="dk1"/>
                </a:solidFill>
              </a:rPr>
              <a:t> &lt; score_rel_blur&gt;</a:t>
            </a:r>
            <a:endParaRPr sz="906"/>
          </a:p>
        </p:txBody>
      </p:sp>
      <p:pic>
        <p:nvPicPr>
          <p:cNvPr id="301" name="Google Shape;301;p29"/>
          <p:cNvPicPr preferRelativeResize="0"/>
          <p:nvPr/>
        </p:nvPicPr>
        <p:blipFill rotWithShape="1">
          <a:blip r:embed="rId5">
            <a:alphaModFix/>
          </a:blip>
          <a:srcRect b="0" l="0" r="37288" t="0"/>
          <a:stretch/>
        </p:blipFill>
        <p:spPr>
          <a:xfrm>
            <a:off x="5549088" y="2441663"/>
            <a:ext cx="3216325" cy="1946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"/>
          <p:cNvSpPr txBox="1"/>
          <p:nvPr>
            <p:ph type="title"/>
          </p:nvPr>
        </p:nvSpPr>
        <p:spPr>
          <a:xfrm>
            <a:off x="311700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Ⅳ.</a:t>
            </a:r>
            <a:r>
              <a:rPr lang="ko" sz="2750"/>
              <a:t> </a:t>
            </a:r>
            <a:r>
              <a:rPr lang="ko" sz="2750"/>
              <a:t>산불 예측 AI 시스템 구현</a:t>
            </a:r>
            <a:endParaRPr sz="2750"/>
          </a:p>
        </p:txBody>
      </p:sp>
      <p:pic>
        <p:nvPicPr>
          <p:cNvPr id="309" name="Google Shape;3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050" y="1969206"/>
            <a:ext cx="2798727" cy="12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218075" y="999000"/>
            <a:ext cx="840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특정 지역, 특정 기간 화재 발생 건수 맵으로 표현하는 HTML 작성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AWS EC2 가상환경에서 flask app으로 배포 . 점을 클릭시 모델의 F1, 재현율 확인 가능하며 클러스터로 수를 확인 가능함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S3 버킷에 새로 올라오는 위성 이미지(noaa-himawari 8/9 AHI)를 자동으로 읽어서 AI 모델로 추론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4283100" y="4675100"/>
            <a:ext cx="57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-20-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312" name="Google Shape;31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7772" y="1824350"/>
            <a:ext cx="3974480" cy="2601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4156" y="1824372"/>
            <a:ext cx="3185520" cy="267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375" y="1860124"/>
            <a:ext cx="3304326" cy="260152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 txBox="1"/>
          <p:nvPr/>
        </p:nvSpPr>
        <p:spPr>
          <a:xfrm>
            <a:off x="584750" y="4433650"/>
            <a:ext cx="56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wildfire_dl_project : </a:t>
            </a:r>
            <a:r>
              <a:rPr lang="ko" sz="1200" u="sng">
                <a:solidFill>
                  <a:schemeClr val="hlink"/>
                </a:solidFill>
                <a:hlinkClick r:id="rId7"/>
              </a:rPr>
              <a:t>https://github.com/velocitygoal-cpu/wildfire-map</a:t>
            </a:r>
            <a:endParaRPr/>
          </a:p>
        </p:txBody>
      </p:sp>
      <p:pic>
        <p:nvPicPr>
          <p:cNvPr id="316" name="Google Shape;316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7725" y="1697724"/>
            <a:ext cx="2484574" cy="292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1"/>
          <p:cNvSpPr txBox="1"/>
          <p:nvPr>
            <p:ph type="title"/>
          </p:nvPr>
        </p:nvSpPr>
        <p:spPr>
          <a:xfrm>
            <a:off x="270325" y="2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Ⅴ.</a:t>
            </a:r>
            <a:r>
              <a:rPr lang="ko" sz="2500"/>
              <a:t> </a:t>
            </a:r>
            <a:r>
              <a:rPr lang="ko" sz="2500"/>
              <a:t>결론 및 제언</a:t>
            </a:r>
            <a:endParaRPr sz="2500"/>
          </a:p>
        </p:txBody>
      </p:sp>
      <p:sp>
        <p:nvSpPr>
          <p:cNvPr id="324" name="Google Shape;324;p31"/>
          <p:cNvSpPr txBox="1"/>
          <p:nvPr/>
        </p:nvSpPr>
        <p:spPr>
          <a:xfrm>
            <a:off x="531300" y="1050175"/>
            <a:ext cx="8081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실제 위성이미지에 실시간으로 화재 발생 예측 지점(다음 경로)을 표시하는 것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4차 모델 실험 결과, 온도의 차이로 학습되는 패턴보다 최대한 다양한 지역의 산불화재 과거 이력들을 수집하는 것이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모델의 성능을 향상시키는 데 주요한 요건이었으므로, 올해 2025년 3~5월의 데이터보다 지난 3년치 정도의 데이터를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수집한다면 추후 산불 ai 조기 탐지 모델의 정확도와 경로, 강도 예측은 그리 어려운 일이 아닐 것으로 보임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4283100" y="4675100"/>
            <a:ext cx="57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-21-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326" name="Google Shape;3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675" y="2089404"/>
            <a:ext cx="2542326" cy="254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925" y="1945238"/>
            <a:ext cx="3778972" cy="26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/>
          <p:nvPr/>
        </p:nvSpPr>
        <p:spPr>
          <a:xfrm>
            <a:off x="0" y="0"/>
            <a:ext cx="9144000" cy="999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type="title"/>
          </p:nvPr>
        </p:nvSpPr>
        <p:spPr>
          <a:xfrm>
            <a:off x="378300" y="26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감사합니다.</a:t>
            </a:r>
            <a:endParaRPr/>
          </a:p>
        </p:txBody>
      </p:sp>
      <p:sp>
        <p:nvSpPr>
          <p:cNvPr id="334" name="Google Shape;334;p32"/>
          <p:cNvSpPr/>
          <p:nvPr/>
        </p:nvSpPr>
        <p:spPr>
          <a:xfrm>
            <a:off x="0" y="4909275"/>
            <a:ext cx="9144000" cy="261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